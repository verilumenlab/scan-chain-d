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her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11430000" cy="76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7492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766E"/>
                </a:solidFill>
                <a:latin typeface="Calibri"/>
              </a:rPr>
              <a:t>Scan Chain Diagnosis Agent (SCDA)</a:t>
            </a:r>
          </a:p>
          <a:p>
            <a:r>
              <a:rPr sz="1500" b="0">
                <a:solidFill>
                  <a:srgbClr val="334155"/>
                </a:solidFill>
                <a:latin typeface="Calibri"/>
              </a:rPr>
              <a:t>KPI Cards + 10 Functional Requirements — simple guide with dashboard examples</a:t>
            </a:r>
          </a:p>
          <a:p>
            <a:r>
              <a:rPr sz="1300" b="0">
                <a:solidFill>
                  <a:srgbClr val="64748B"/>
                </a:solidFill>
                <a:latin typeface="Calibri"/>
              </a:rPr>
              <a:t>Real project data: 90 logs · 5,089 failures · 23 chains · 1,418 suspect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766E"/>
                </a:solidFill>
                <a:latin typeface="Calibri"/>
              </a:rPr>
              <a:t>What does this project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In plain English: find where a chip’s scan test failed, and why.</a:t>
            </a:r>
          </a:p>
        </p:txBody>
      </p:sp>
      <p:pic>
        <p:nvPicPr>
          <p:cNvPr id="4" name="Picture 3" descr="flow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47120" cy="38129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6052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Chip factories run scan tests. When a test fails, the log is hard to read by hand.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This tool reads the logs, finds bad scan chains and cells, and shows results on a dashboard.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Dashboard: http://localhost:3000  ·  API: http://localhost:8000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You get 12 KPI cards (quick numbers) and 10 requirement reports (detailed answers).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766E"/>
                </a:solidFill>
                <a:latin typeface="Calibri"/>
              </a:rPr>
              <a:t>All 12 KPI cards (what you see first)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Each card is a big number. Click a card to open charts and tables.</a:t>
            </a:r>
          </a:p>
        </p:txBody>
      </p:sp>
      <p:pic>
        <p:nvPicPr>
          <p:cNvPr id="4" name="Picture 3" descr="slide_kpi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6766560" cy="4511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143000"/>
            <a:ext cx="4663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Failing Chains = 23 — how many chains failed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Failing Cells = 1,418 — likely bad cells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Chain Breaks = 25 — possible broken paths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Shift/Capture = 5,089 — fail type mix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Topology = 23 — chains in the design map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Ranked Chains = 23 — ordered by fail count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Correlations = 23 — how chains differ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Top Chain = channel14 (496 fails)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Reports = 1 HTML report ready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Debug Locations = 2,593 probe points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Confidence = 68.7% overall trust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Pending Reviews — engineer confirm/reject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766E"/>
                </a:solidFill>
                <a:latin typeface="Calibri"/>
              </a:rPr>
              <a:t>KPI group 1 — Finding the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These cards answer: what failed, where, and what kind of fail?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Distinct failing scan chains (23): counts unique bad chains from FAIL logs. Example: channel14 is one of them.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Failing Scan Cells (1,418): cells seen failing in at least 2 patterns, so noise is reduced. Confidence is shown per cell.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Chain Breaks Detected (25): looks for a break in the shift path (EXPECTED vs ACTUAL bits disagree). Many are UNCERTAIN until more patterns agree.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Shift / Capture Issues (5,089): sorts each fail into shift-path vs capture timing (setup/hold) vs cell defect.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Dashboard evidence: Shift vs Capture donut chart + Chain Breaks table + Suspected Cells table.</a:t>
            </a:r>
          </a:p>
        </p:txBody>
      </p:sp>
      <p:pic>
        <p:nvPicPr>
          <p:cNvPr id="5" name="Picture 4" descr="chart_shift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0"/>
            <a:ext cx="2313060" cy="2468880"/>
          </a:xfrm>
          <a:prstGeom prst="rect">
            <a:avLst/>
          </a:prstGeom>
        </p:spPr>
      </p:pic>
      <p:pic>
        <p:nvPicPr>
          <p:cNvPr id="6" name="Picture 5" descr="slide_chain_break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069080"/>
            <a:ext cx="3771900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766E"/>
                </a:solidFill>
                <a:latin typeface="Calibri"/>
              </a:rPr>
              <a:t>KPI group 2 — Ranking, map, and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These cards answer: which chain is worst, how is the design wired, and what makes a chain special?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Chains in Topology (23): design map of chains (length, flip-flops, SI/SO). Comes from STIL / topology files.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Chains Ranked (23): same chains sorted by how often they fail. Pareto idea: top ~14 chains cover ~80% of fails.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Top Failing Chain = channel14 with 496 failures across 9 lots — start debug here first.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Failure Correlations (23): compares each chain to the average (IR drop, temperature, slack style signals).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Dashboard evidence: horizontal Chain Failure Ranking bar chart + Top chain signatures table.</a:t>
            </a:r>
          </a:p>
        </p:txBody>
      </p:sp>
      <p:pic>
        <p:nvPicPr>
          <p:cNvPr id="5" name="Picture 4" descr="char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10789920" cy="55624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766E"/>
                </a:solidFill>
                <a:latin typeface="Calibri"/>
              </a:rPr>
              <a:t>KPI group 3 — Report, probe points, trust,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Diagnosis Reports (1): one HTML report that packages the findings for sharing/printing (FR-008).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Debug Locations (2,593): suggested X/Y places on the die to probe (PFA). Example: cell U_core/reg_c0_ff[137] near (215 µm, 87 µm).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Diagnosis Confidence (68.7%): how much we trust the top answers overall (mix of logic + ML).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Pending Reviews: engineers confirm or reject top leads; feedback helps improve later runs.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Dashboard evidence: confidence gauge, debug location cards/table, report preview, review queue.</a:t>
            </a:r>
          </a:p>
        </p:txBody>
      </p:sp>
      <p:pic>
        <p:nvPicPr>
          <p:cNvPr id="4" name="Picture 3" descr="chart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49039"/>
            <a:ext cx="5669280" cy="2132387"/>
          </a:xfrm>
          <a:prstGeom prst="rect">
            <a:avLst/>
          </a:prstGeom>
        </p:spPr>
      </p:pic>
      <p:pic>
        <p:nvPicPr>
          <p:cNvPr id="5" name="Picture 4" descr="slide_debug_lo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11880"/>
            <a:ext cx="438912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766E"/>
                </a:solidFill>
                <a:latin typeface="Calibri"/>
              </a:rPr>
              <a:t>Requirements 1–3 (find chains, cells, topology)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FR-001 Failing Scan Chains — Reads test logs and lists which scan chains failed and how often. KPI: Failing Chains = 23. Output: SCD-FR-001_failing_scan_chains.json.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FR-002 Suspected Failing Cells — Maps a fail bit to a real cell name and gives a confidence score. KPI: Failing Cells = 1,418. Example: U_core/reg_c0_ff[137] on channel01 at ~73% confidence.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FR-003 Scan Topology — Loads the design scan map (chain lengths, clocks, connections). KPI: Topology Chains = 23. Shown as topology stats + length bars / connectivity view.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Why it matters: first you learn WHAT failed (chains), WHERE (cells), and HOW the design is connected (topology).</a:t>
            </a:r>
          </a:p>
        </p:txBody>
      </p:sp>
      <p:pic>
        <p:nvPicPr>
          <p:cNvPr id="4" name="Picture 3" descr="chart_suspect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840480"/>
            <a:ext cx="9875520" cy="48842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766E"/>
                </a:solidFill>
                <a:latin typeface="Calibri"/>
              </a:rPr>
              <a:t>Requirements 4–6 (rank, correlate, find breaks)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FR-004 Chain Failure Ranking — Ranks chains by fail count. Example: #1 is channel14 with 496 fails (about 9.7% of all fails). Chart: horizontal ranking bars.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FR-005 Failure Correlation — Shows how a chain’s fail pattern differs from the lot average (signatures). Table: Top chain signatures on the dashboard.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FR-006 Scan Chain Breaks — Finds the first bit where expected vs actual data disagree. Example: LOT_2 / channel04 near bit 73 (cell U_core/reg_c2_ff[73]), status UNCERTAIN until patterns agree (≥70%).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Why it matters: ranking tells you where to start; correlation gives clues; breaks show possible hard opens in the scan path.</a:t>
            </a:r>
          </a:p>
        </p:txBody>
      </p:sp>
      <p:pic>
        <p:nvPicPr>
          <p:cNvPr id="4" name="Picture 3" descr="slide_chain_break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206240"/>
            <a:ext cx="356616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766E"/>
                </a:solidFill>
                <a:latin typeface="Calibri"/>
              </a:rPr>
              <a:t>Requirements 7–8 (fail type + HTML report)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FR-007 Shift vs Capture Diagnosis — Labels each of 5,089 fails: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    Shift issues 1,122 (~22%) · Capture setup 2,664 · Capture hold 974 · Cell defect 136 (+ other variants).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    Simple meaning: shift = problem while shifting data through the chain; capture = problem when storing data (timing/setup/hold).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    Dashboard chart: Shift vs Capture donut/pie.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FR-008 Diagnosis Report — Builds one shareable HTML report with key tables and charts from the other requirements. KPI: Diagnosis Reports = 1.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Why it matters: engineers need fail-type mix for root-cause thinking, and one report to send to the team.</a:t>
            </a:r>
          </a:p>
        </p:txBody>
      </p:sp>
      <p:pic>
        <p:nvPicPr>
          <p:cNvPr id="4" name="Picture 3" descr="chart_shift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4160520"/>
            <a:ext cx="231306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766E"/>
                </a:solidFill>
                <a:latin typeface="Calibri"/>
              </a:rPr>
              <a:t>Requirements 9–10 (where to probe + how sure we are)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FR-009 Debug Locations — Turns suspects into probe coordinates (die µm / wafer mm) with priority. KPI: Debug Locations = 2,593.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    Example: probe near (215.05 µm, 87.42 µm) for U_core/reg_c0_ff[137] on channel01 (High priority).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FR-010 Diagnosis Confidence — Gives a trust score for answers (per cell and overall). KPI: Diagnosis Confidence ≈ 68.7%.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    Higher % = stronger evidence (more matching patterns + model agreement). Lower % = treat as a lead, not a final answer.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Note: FR-010 does not need its own big JSON file; confidence lives with FR-002 suspects and the dashboard gauge.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Why it matters: lab time is costly — probe the best X/Y first, and only trust strong scores.</a:t>
            </a:r>
          </a:p>
        </p:txBody>
      </p:sp>
      <p:pic>
        <p:nvPicPr>
          <p:cNvPr id="4" name="Picture 3" descr="slide_debug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0"/>
            <a:ext cx="3566160" cy="2377440"/>
          </a:xfrm>
          <a:prstGeom prst="rect">
            <a:avLst/>
          </a:prstGeom>
        </p:spPr>
      </p:pic>
      <p:pic>
        <p:nvPicPr>
          <p:cNvPr id="5" name="Picture 4" descr="chart_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434840"/>
            <a:ext cx="5303520" cy="19948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766E"/>
                </a:solidFill>
                <a:latin typeface="Calibri"/>
              </a:rPr>
              <a:t>How KPI cards map to the 10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One worked example from the live dashboard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Failing Chains card → FR-001    |    Failing Cells card → FR-002    |    Topology card → FR-003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Ranked Chains + Top Chain cards → FR-004    |    Failure Correlations card → FR-005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Chain Breaks card → FR-006    |    Shift/Capture card → FR-007    |    Reports card → FR-008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Debug Locations card → FR-009    |    Diagnosis Confidence card → FR-010    |    Pending Reviews → production feedback loop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Worked example: Start at Top Chain = channel14 (496 fails). Open ranking chart (FR-004). Check signatures (FR-005).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Then open Suspected Cells for that chain (FR-002), check confidence (FR-010), and pick a Debug Location (FR-009) to probe.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If EXPECTED/ACTUAL bits look stuck after one position, open Chain Breaks (FR-006) for that lot/chain.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766E"/>
                </a:solidFill>
                <a:latin typeface="Calibri"/>
              </a:rPr>
              <a:t>Summary — what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SCDA turns hard ATE fail logs into a simple dashboard with 12 KPI cards and 10 requirement reports.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Use KPI cards for a 10-second health check. Click cards for charts: ranking bars, shift/capture pie, topology, breaks, debug XY.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Key numbers from this project run: 23 failing chains, 1,418 suspect cells, 25 break signatures, 68.7% confidence.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Best first action: investigate channel14, then high-confidence cells like U_core/reg_c0_ff[137], then probe the suggested XY.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Outputs live under output/ (SCD-FR-001 … SCD-FR-009 JSON/HTML) and on the UI at localhost:3000.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Thank you — questions welcome.</a:t>
            </a:r>
          </a:p>
        </p:txBody>
      </p:sp>
      <p:pic>
        <p:nvPicPr>
          <p:cNvPr id="4" name="Picture 3" descr="flow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754880"/>
            <a:ext cx="10607040" cy="359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